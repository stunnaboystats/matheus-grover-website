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64" r:id="rId4"/>
    <p:sldId id="281" r:id="rId5"/>
    <p:sldId id="271" r:id="rId6"/>
    <p:sldId id="265" r:id="rId7"/>
    <p:sldId id="266" r:id="rId8"/>
    <p:sldId id="267" r:id="rId9"/>
    <p:sldId id="268" r:id="rId10"/>
    <p:sldId id="269" r:id="rId11"/>
    <p:sldId id="270" r:id="rId12"/>
    <p:sldId id="261" r:id="rId13"/>
    <p:sldId id="273" r:id="rId14"/>
    <p:sldId id="262" r:id="rId15"/>
    <p:sldId id="277" r:id="rId16"/>
    <p:sldId id="282" r:id="rId17"/>
    <p:sldId id="283" r:id="rId18"/>
    <p:sldId id="27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76"/>
    <p:restoredTop sz="94661"/>
  </p:normalViewPr>
  <p:slideViewPr>
    <p:cSldViewPr snapToGrid="0">
      <p:cViewPr>
        <p:scale>
          <a:sx n="96" d="100"/>
          <a:sy n="96" d="100"/>
        </p:scale>
        <p:origin x="14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B78CB1-2195-CD47-B739-91E13A5C0E52}" type="datetimeFigureOut">
              <a:rPr lang="en-US" smtClean="0"/>
              <a:t>7/29/25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4A53D-58E5-4647-90EC-CD085C0DB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6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74A53D-58E5-4647-90EC-CD085C0DBCA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644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4C19-A462-894A-95BA-253947AB0216}" type="datetimeFigureOut">
              <a:rPr lang="en-US" smtClean="0"/>
              <a:t>7/29/25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BEF34-A1E9-8E4B-8508-4DD06E74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4188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4C19-A462-894A-95BA-253947AB0216}" type="datetimeFigureOut">
              <a:rPr lang="en-US" smtClean="0"/>
              <a:t>7/29/25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BEF34-A1E9-8E4B-8508-4DD06E74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54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4C19-A462-894A-95BA-253947AB0216}" type="datetimeFigureOut">
              <a:rPr lang="en-US" smtClean="0"/>
              <a:t>7/29/25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BEF34-A1E9-8E4B-8508-4DD06E74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942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4C19-A462-894A-95BA-253947AB0216}" type="datetimeFigureOut">
              <a:rPr lang="en-US" smtClean="0"/>
              <a:t>7/29/25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BEF34-A1E9-8E4B-8508-4DD06E74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957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4C19-A462-894A-95BA-253947AB0216}" type="datetimeFigureOut">
              <a:rPr lang="en-US" smtClean="0"/>
              <a:t>7/29/25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BEF34-A1E9-8E4B-8508-4DD06E746ED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94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4C19-A462-894A-95BA-253947AB0216}" type="datetimeFigureOut">
              <a:rPr lang="en-US" smtClean="0"/>
              <a:t>7/29/25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BEF34-A1E9-8E4B-8508-4DD06E74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1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4C19-A462-894A-95BA-253947AB0216}" type="datetimeFigureOut">
              <a:rPr lang="en-US" smtClean="0"/>
              <a:t>7/29/25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BEF34-A1E9-8E4B-8508-4DD06E74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941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4C19-A462-894A-95BA-253947AB0216}" type="datetimeFigureOut">
              <a:rPr lang="en-US" smtClean="0"/>
              <a:t>7/29/25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BEF34-A1E9-8E4B-8508-4DD06E74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799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6014C19-A462-894A-95BA-253947AB0216}" type="datetimeFigureOut">
              <a:rPr lang="en-US" smtClean="0"/>
              <a:t>7/29/25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BEF34-A1E9-8E4B-8508-4DD06E74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866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4C19-A462-894A-95BA-253947AB0216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BEF34-A1E9-8E4B-8508-4DD06E74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15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4C19-A462-894A-95BA-253947AB0216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BEF34-A1E9-8E4B-8508-4DD06E74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1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6014C19-A462-894A-95BA-253947AB0216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49BEF34-A1E9-8E4B-8508-4DD06E746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13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20D39-05CE-FFF5-EBA1-4DD5A2C6E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457200"/>
            <a:ext cx="10909640" cy="1368614"/>
          </a:xfrm>
        </p:spPr>
        <p:txBody>
          <a:bodyPr anchor="ctr">
            <a:normAutofit fontScale="90000"/>
          </a:bodyPr>
          <a:lstStyle/>
          <a:p>
            <a:r>
              <a:rPr lang="en-US" sz="6600" dirty="0"/>
              <a:t>Why Arsenal is Always 2</a:t>
            </a:r>
            <a:r>
              <a:rPr lang="en-US" sz="6600" baseline="30000" dirty="0"/>
              <a:t>nd</a:t>
            </a:r>
            <a:r>
              <a:rPr lang="en-US" sz="6600" dirty="0"/>
              <a:t> Place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45D696-B4D3-965A-BA94-9ED86D2248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1922561"/>
            <a:ext cx="10909643" cy="552659"/>
          </a:xfrm>
        </p:spPr>
        <p:txBody>
          <a:bodyPr anchor="ctr">
            <a:normAutofit/>
          </a:bodyPr>
          <a:lstStyle/>
          <a:p>
            <a:r>
              <a:rPr lang="en-US" dirty="0"/>
              <a:t>By Matheus Grover</a:t>
            </a:r>
          </a:p>
        </p:txBody>
      </p:sp>
      <p:pic>
        <p:nvPicPr>
          <p:cNvPr id="1028" name="Picture 4" descr="Arsenal 2-1 Everton Stats: Gunners Forced to Settle For Second Despite Win  | Opta Analyst">
            <a:extLst>
              <a:ext uri="{FF2B5EF4-FFF2-40B4-BE49-F238E27FC236}">
                <a16:creationId xmlns:a16="http://schemas.microsoft.com/office/drawing/2014/main" id="{DB108B96-731E-696A-D1F8-05422BB5E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6286" y="2642616"/>
            <a:ext cx="5401923" cy="360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rsenal moves up to 2nd place in Premier League with 3-1 win over Brentford  | AP News">
            <a:extLst>
              <a:ext uri="{FF2B5EF4-FFF2-40B4-BE49-F238E27FC236}">
                <a16:creationId xmlns:a16="http://schemas.microsoft.com/office/drawing/2014/main" id="{FAA54440-A1DE-369B-508A-F1E2F0AAC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0588" y="2642616"/>
            <a:ext cx="5422231" cy="360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3619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B1E6F-9DF7-FC34-BC36-C8BD0CCB5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US" sz="4000"/>
              <a:t>Problem and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05E8D-D3F5-A74B-F212-DA6C9E5A9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>
            <a:normAutofit/>
          </a:bodyPr>
          <a:lstStyle/>
          <a:p>
            <a:r>
              <a:rPr lang="en-US" sz="2000"/>
              <a:t>Five seasons under Coach Mikel Arteta = 1 Trophy 3 consecutive 2</a:t>
            </a:r>
            <a:r>
              <a:rPr lang="en-US" sz="2000" baseline="30000"/>
              <a:t>nd</a:t>
            </a:r>
            <a:r>
              <a:rPr lang="en-US" sz="2000"/>
              <a:t> place finishes</a:t>
            </a:r>
          </a:p>
          <a:p>
            <a:r>
              <a:rPr lang="en-US" sz="2000"/>
              <a:t>2022-23 collapse: 248 / 296 days in 1st, finished 2</a:t>
            </a:r>
            <a:r>
              <a:rPr lang="en-US" sz="2000" baseline="30000"/>
              <a:t>nd</a:t>
            </a:r>
          </a:p>
          <a:p>
            <a:r>
              <a:rPr lang="en-US" sz="2000"/>
              <a:t>8</a:t>
            </a:r>
            <a:r>
              <a:rPr lang="en-US" sz="2000" baseline="30000"/>
              <a:t>th</a:t>
            </a:r>
            <a:r>
              <a:rPr lang="en-US" sz="2000"/>
              <a:t> -&gt; 8</a:t>
            </a:r>
            <a:r>
              <a:rPr lang="en-US" sz="2000" baseline="30000"/>
              <a:t>th</a:t>
            </a:r>
            <a:r>
              <a:rPr lang="en-US" sz="2000"/>
              <a:t> -&gt; 5</a:t>
            </a:r>
            <a:r>
              <a:rPr lang="en-US" sz="2000" baseline="30000"/>
              <a:t>th</a:t>
            </a:r>
            <a:r>
              <a:rPr lang="en-US" sz="2000"/>
              <a:t> -&gt; 2</a:t>
            </a:r>
            <a:r>
              <a:rPr lang="en-US" sz="2000" baseline="30000"/>
              <a:t>nd</a:t>
            </a:r>
            <a:r>
              <a:rPr lang="en-US" sz="2000"/>
              <a:t> -&gt; 2</a:t>
            </a:r>
            <a:r>
              <a:rPr lang="en-US" sz="2000" baseline="30000"/>
              <a:t>nd</a:t>
            </a:r>
            <a:r>
              <a:rPr lang="en-US" sz="2000"/>
              <a:t> -&gt; 2</a:t>
            </a:r>
            <a:r>
              <a:rPr lang="en-US" sz="2000" baseline="30000"/>
              <a:t>nd</a:t>
            </a:r>
            <a:endParaRPr lang="en-US" sz="2000"/>
          </a:p>
          <a:p>
            <a:r>
              <a:rPr lang="en-US" sz="2000"/>
              <a:t>No CL -&gt; No CL -&gt; No CL -&gt; No CL -&gt; Quarter Finals -&gt; Semi Finals</a:t>
            </a:r>
          </a:p>
          <a:p>
            <a:r>
              <a:rPr lang="en-US" sz="2000"/>
              <a:t>Every Arsenal fan knows our problem; we’re consistently getting better but still haven’t pushed over the line yet. </a:t>
            </a:r>
          </a:p>
          <a:p>
            <a:endParaRPr lang="en-US" sz="2000"/>
          </a:p>
        </p:txBody>
      </p:sp>
      <p:pic>
        <p:nvPicPr>
          <p:cNvPr id="2050" name="Picture 2" descr="As a Gooner this picture breaks my heart into pieces : r/ArsenalFC">
            <a:extLst>
              <a:ext uri="{FF2B5EF4-FFF2-40B4-BE49-F238E27FC236}">
                <a16:creationId xmlns:a16="http://schemas.microsoft.com/office/drawing/2014/main" id="{E7BD2E93-7984-B3D3-BA17-2A3B7A4F8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" r="2733"/>
          <a:stretch>
            <a:fillRect/>
          </a:stretch>
        </p:blipFill>
        <p:spPr bwMode="auto">
          <a:xfrm>
            <a:off x="7199440" y="10"/>
            <a:ext cx="4992560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3240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21AF-78B1-F303-19FF-E3D962B80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Hypothesis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3BB37-E0E3-5A0D-B79F-E4B86EDBF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discussing with my Applied Consultant, he theorized that a tactical shift after spring 2023 changed how we play.</a:t>
            </a:r>
          </a:p>
          <a:p>
            <a:r>
              <a:rPr lang="en-US" dirty="0"/>
              <a:t>The Pre-shift Arsenal has:</a:t>
            </a:r>
          </a:p>
          <a:p>
            <a:r>
              <a:rPr lang="en-US" dirty="0"/>
              <a:t>Lower possession </a:t>
            </a:r>
          </a:p>
          <a:p>
            <a:r>
              <a:rPr lang="en-US" dirty="0"/>
              <a:t>Higher xG</a:t>
            </a:r>
          </a:p>
          <a:p>
            <a:r>
              <a:rPr lang="en-US" dirty="0"/>
              <a:t>Less cards </a:t>
            </a:r>
          </a:p>
          <a:p>
            <a:r>
              <a:rPr lang="en-US" dirty="0"/>
              <a:t>Conceded and scored more goals</a:t>
            </a:r>
          </a:p>
          <a:p>
            <a:r>
              <a:rPr lang="en-US" dirty="0"/>
              <a:t>In 2022-23 teams played more attacking against us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5BD5B0-25AF-7D16-CBC9-EE814A8CC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809" y="3607391"/>
            <a:ext cx="3561522" cy="200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262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AB521-6ECB-3F7F-17AA-1425E0F5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D8293-D6C4-401B-29A8-D8C299E16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Fbref</a:t>
            </a:r>
            <a:r>
              <a:rPr lang="en-US" dirty="0"/>
              <a:t> match logs:  Arsenal, Man City, Liverpool (2022-2025)</a:t>
            </a:r>
          </a:p>
          <a:p>
            <a:r>
              <a:rPr lang="en-US" dirty="0"/>
              <a:t>Added discipline cards through a left join of a different google sheet</a:t>
            </a:r>
          </a:p>
          <a:p>
            <a:r>
              <a:rPr lang="en-US" dirty="0"/>
              <a:t>Created Variables: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Season, Era (Pre = 2022/23, Post = 2023/24, 2024/25)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Opponent Difficulty(Top -&gt; Non-League)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Formation Style: (Defensive/Balanced/Attacking)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Points, Levels for Formation and Difficulty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392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EA272-0458-7718-4AA8-7F96D8F5A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E648A-60D2-D438-FBE6-3A76C5091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forms of EDA, before I opened the data, I wrote down 9 predictions about what it would look like.  Then created 15+ tableau figures answering these questions.</a:t>
            </a:r>
          </a:p>
          <a:p>
            <a:r>
              <a:rPr lang="en-US" dirty="0"/>
              <a:t>This helped me get a sense of what I was working with, what I was missing, what I was right and wrong about.</a:t>
            </a:r>
          </a:p>
          <a:p>
            <a:r>
              <a:rPr lang="en-US" dirty="0"/>
              <a:t>After I created all the earlier variables, I still wasn’t ready for analysis, my consultant and I drafted up the Hypothesis questions and I created another round of figures answering them. </a:t>
            </a:r>
          </a:p>
        </p:txBody>
      </p:sp>
    </p:spTree>
    <p:extLst>
      <p:ext uri="{BB962C8B-B14F-4D97-AF65-F5344CB8AC3E}">
        <p14:creationId xmlns:p14="http://schemas.microsoft.com/office/powerpoint/2010/main" val="2583065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E2B22E-1CAE-6C17-9CAD-DD1C715F2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1800"/>
              <a:t>Arsenal 2022-23 has lower possession than 2023-2025</a:t>
            </a:r>
            <a:br>
              <a:rPr lang="en-US" sz="1800"/>
            </a:br>
            <a:endParaRPr lang="en-US" sz="1800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E59B35E6-4E2F-17FB-B8CE-B3431C1DFD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4090" y="689249"/>
            <a:ext cx="5418116" cy="581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74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AF78C0-CDB9-9BE4-7707-28FB2CE12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000"/>
              <a:t>Arsenal 2022-23 has higher xG than 2023-2025</a:t>
            </a:r>
            <a:br>
              <a:rPr lang="en-US" sz="2000"/>
            </a:br>
            <a:endParaRPr lang="en-US" sz="2000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1CEF3B00-BF86-E7DC-A703-54BECA5CE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3281" y="734304"/>
            <a:ext cx="5391799" cy="584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818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3F770A-91B5-7A06-77D2-45AAB56D4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000"/>
              <a:t>Arsenal 2022-23 has less cards than 2023-2025</a:t>
            </a:r>
            <a:br>
              <a:rPr lang="en-US" sz="2000"/>
            </a:br>
            <a:endParaRPr lang="en-US" sz="2000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44B0DA61-9935-1DB7-F5E3-19111A2835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3282" y="528093"/>
            <a:ext cx="5424694" cy="580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165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F1F5EB-1BD2-8091-C80D-DD51D6AE9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1800"/>
              <a:t>Arsenal 2022-23 teams played more attacking against us</a:t>
            </a:r>
            <a:br>
              <a:rPr lang="en-US" sz="1800"/>
            </a:br>
            <a:endParaRPr lang="en-US" sz="1800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ACF9B1CA-A346-FB5A-C42B-22C4EAE565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4696" y="574081"/>
            <a:ext cx="5324423" cy="570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060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336BAB-2C44-6ACB-079A-B31B6CBF5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1800"/>
              <a:t>Arsenal 2022-23 conceded and scored more goals</a:t>
            </a:r>
            <a:br>
              <a:rPr lang="en-US" sz="1800"/>
            </a:br>
            <a:endParaRPr lang="en-US" sz="18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3A7918-9BB2-9E49-97A1-C2E4EE9C39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71003" y="506614"/>
            <a:ext cx="5391799" cy="584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864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466FD4-CEAB-EDED-639D-06B72C44C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1800"/>
              <a:t>Finally, Arsenal switch their playstyle after 2022-23</a:t>
            </a:r>
            <a:br>
              <a:rPr lang="en-US" sz="1800"/>
            </a:br>
            <a:endParaRPr lang="en-US" sz="1800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152FC253-120F-2A1B-2F9D-4517599CA3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4499" y="565341"/>
            <a:ext cx="5483904" cy="572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58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B2A17-DC28-9398-63B7-F062712C5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Logisitic 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3009F-E4FD-2378-2696-748BAD3F5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2412757"/>
            <a:ext cx="6785113" cy="3935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Model 1(Baseline):  </a:t>
            </a:r>
            <a:r>
              <a:rPr lang="en-US" dirty="0"/>
              <a:t>glm(Win ~ Team + era + xG + Poss)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Model 2 (Interaction)</a:t>
            </a:r>
            <a:r>
              <a:rPr lang="en-US" dirty="0"/>
              <a:t> glm(Win ~ Team + era * (xG + Poss + CrdY + CrdR + Two_CrdY)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Model 3(Full Tactical Model): </a:t>
            </a:r>
            <a:r>
              <a:rPr lang="en-US" dirty="0"/>
              <a:t>glm(Win ~ Team + era * (xG + Poss + formation_style + Opponent_difficulty + opp_formation_style + CrdY + CrdR + Two_CrdY)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Model 1 AUC:</a:t>
            </a:r>
            <a:r>
              <a:rPr lang="en-US" dirty="0"/>
              <a:t> 0.739 </a:t>
            </a:r>
            <a:r>
              <a:rPr lang="en-US" b="1" dirty="0"/>
              <a:t>Model 2 AUC: </a:t>
            </a:r>
            <a:r>
              <a:rPr lang="en-US" dirty="0"/>
              <a:t>0.759 </a:t>
            </a:r>
            <a:r>
              <a:rPr lang="en-US" b="1" dirty="0"/>
              <a:t>Model 3 AUC: </a:t>
            </a:r>
            <a:r>
              <a:rPr lang="en-US" dirty="0">
                <a:solidFill>
                  <a:srgbClr val="00B050"/>
                </a:solidFill>
              </a:rPr>
              <a:t>0.832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A7AC95-4F50-43DC-7E64-91AE64285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384" y="2542976"/>
            <a:ext cx="4809156" cy="355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575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2FFD-0751-1C00-5193-9E533605E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3: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14E59-770B-E4E8-8AB3-DBD24E6FB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/>
              <a:t>The most interesting coefficients were:</a:t>
            </a:r>
          </a:p>
          <a:p>
            <a:r>
              <a:rPr lang="en-US" dirty="0"/>
              <a:t> An extra expected goal raises win odds in the Post era, Beta = 0.958 and Odds Ratio = 2.6. However, the boost was larger in the Pre era with a Beta = 1.48 and OR = 4.4). </a:t>
            </a:r>
          </a:p>
          <a:p>
            <a:r>
              <a:rPr lang="en-US" dirty="0"/>
              <a:t>Possession no longer matters after 2023 the Beta is almost equal to 0, whereas it modestly lowered win odds in 2022-23. </a:t>
            </a:r>
          </a:p>
          <a:p>
            <a:r>
              <a:rPr lang="en-US" dirty="0"/>
              <a:t>Before 2023, each extra yellow made a win </a:t>
            </a:r>
            <a:r>
              <a:rPr lang="en-US" i="1" dirty="0"/>
              <a:t>less</a:t>
            </a:r>
            <a:r>
              <a:rPr lang="en-US" dirty="0"/>
              <a:t> likely. After 2023, each yellow made a win </a:t>
            </a:r>
            <a:r>
              <a:rPr lang="en-US" i="1" dirty="0"/>
              <a:t>more</a:t>
            </a:r>
            <a:r>
              <a:rPr lang="en-US" dirty="0"/>
              <a:t> likely. </a:t>
            </a:r>
          </a:p>
          <a:p>
            <a:r>
              <a:rPr lang="en-US" dirty="0"/>
              <a:t>In 2022–23 playing against a defensive‐minded team hurt Arsenal’s win odds.  After 2023, it </a:t>
            </a:r>
            <a:r>
              <a:rPr lang="en-US" i="1" dirty="0"/>
              <a:t>helped</a:t>
            </a:r>
            <a:r>
              <a:rPr lang="en-US" dirty="0"/>
              <a:t>, a defensive opponent tripled their chances of winning. </a:t>
            </a:r>
          </a:p>
        </p:txBody>
      </p:sp>
    </p:spTree>
    <p:extLst>
      <p:ext uri="{BB962C8B-B14F-4D97-AF65-F5344CB8AC3E}">
        <p14:creationId xmlns:p14="http://schemas.microsoft.com/office/powerpoint/2010/main" val="1682558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1B7DF-CD17-96E5-81B7-9179D76E4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F8680-F18B-69B8-48B1-DC0AC472C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75" y="2341947"/>
            <a:ext cx="5892447" cy="4270888"/>
          </a:xfrm>
        </p:spPr>
        <p:txBody>
          <a:bodyPr>
            <a:norm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ACL_Fit_Tree_1 </a:t>
            </a:r>
            <a:r>
              <a:rPr lang="en-US" dirty="0">
                <a:latin typeface="Aptos" panose="020B0004020202020204" pitchFamily="34" charset="0"/>
              </a:rPr>
              <a:t>&lt;- rpart(Win ~ era + Team + xG + Poss + CrdY + CrdR + Two_CrdY + formation_style + Opponent_difficulty + opp_formation_style, data = Flag_df, method = "class")</a:t>
            </a:r>
          </a:p>
          <a:p>
            <a:r>
              <a:rPr lang="en-US" b="1" dirty="0">
                <a:latin typeface="Aptos" panose="020B0004020202020204" pitchFamily="34" charset="0"/>
              </a:rPr>
              <a:t>Tree_Pre  </a:t>
            </a:r>
            <a:r>
              <a:rPr lang="en-US" dirty="0">
                <a:latin typeface="Aptos" panose="020B0004020202020204" pitchFamily="34" charset="0"/>
              </a:rPr>
              <a:t>&lt;- rpart(Win ~ xG + Poss + formation_style + Opponent_difficulty + CrdY, data = filter(Flag_df, era == "Pre"),  method = "class")</a:t>
            </a:r>
          </a:p>
          <a:p>
            <a:r>
              <a:rPr lang="en-US" b="1" dirty="0">
                <a:latin typeface="Aptos" panose="020B0004020202020204" pitchFamily="34" charset="0"/>
              </a:rPr>
              <a:t>Tree_Post </a:t>
            </a:r>
            <a:r>
              <a:rPr lang="en-US" dirty="0">
                <a:latin typeface="Aptos" panose="020B0004020202020204" pitchFamily="34" charset="0"/>
              </a:rPr>
              <a:t>&lt;- rpart(Win ~ xG + Poss + formation_style + Opponent_difficulty + CrdY, data = filter(Flag_df, era == "Post"), method = "class")</a:t>
            </a:r>
          </a:p>
          <a:p>
            <a:r>
              <a:rPr lang="en-US" b="1" dirty="0">
                <a:latin typeface="Aptos" panose="020B0004020202020204" pitchFamily="34" charset="0"/>
              </a:rPr>
              <a:t>All Seasons AOC: </a:t>
            </a:r>
            <a:r>
              <a:rPr lang="en-US" dirty="0">
                <a:latin typeface="Aptos" panose="020B0004020202020204" pitchFamily="34" charset="0"/>
              </a:rPr>
              <a:t>0.7472, </a:t>
            </a:r>
            <a:r>
              <a:rPr lang="en-US" b="1" dirty="0">
                <a:latin typeface="Aptos" panose="020B0004020202020204" pitchFamily="34" charset="0"/>
              </a:rPr>
              <a:t>Pre 22/23 AOC: </a:t>
            </a:r>
            <a:r>
              <a:rPr lang="en-US" dirty="0">
                <a:solidFill>
                  <a:srgbClr val="00B050"/>
                </a:solidFill>
                <a:latin typeface="Aptos" panose="020B0004020202020204" pitchFamily="34" charset="0"/>
              </a:rPr>
              <a:t>0.7613</a:t>
            </a:r>
            <a:r>
              <a:rPr lang="en-US" dirty="0">
                <a:latin typeface="Aptos" panose="020B0004020202020204" pitchFamily="34" charset="0"/>
              </a:rPr>
              <a:t>, </a:t>
            </a:r>
            <a:r>
              <a:rPr lang="en-US" b="1" dirty="0">
                <a:latin typeface="Aptos" panose="020B0004020202020204" pitchFamily="34" charset="0"/>
              </a:rPr>
              <a:t>Post 22/23 AOC: </a:t>
            </a:r>
            <a:r>
              <a:rPr lang="en-US" dirty="0">
                <a:latin typeface="Aptos" panose="020B0004020202020204" pitchFamily="34" charset="0"/>
              </a:rPr>
              <a:t>0.744</a:t>
            </a:r>
          </a:p>
          <a:p>
            <a:endParaRPr lang="en-US" dirty="0"/>
          </a:p>
        </p:txBody>
      </p:sp>
      <p:pic>
        <p:nvPicPr>
          <p:cNvPr id="4" name="Content Placeholder 4" descr="A line graph with a red line&#10;&#10;AI-generated content may be incorrect.">
            <a:extLst>
              <a:ext uri="{FF2B5EF4-FFF2-40B4-BE49-F238E27FC236}">
                <a16:creationId xmlns:a16="http://schemas.microsoft.com/office/drawing/2014/main" id="{A914DCBD-DE14-DDEE-F844-4789629869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458"/>
          <a:stretch>
            <a:fillRect/>
          </a:stretch>
        </p:blipFill>
        <p:spPr>
          <a:xfrm>
            <a:off x="6549365" y="2782957"/>
            <a:ext cx="5306560" cy="326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881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4E1B6-5F78-0FCF-F201-DE0B9B951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dirty="0"/>
              <a:t>All Seasons Decision Tree</a:t>
            </a:r>
          </a:p>
        </p:txBody>
      </p:sp>
      <p:pic>
        <p:nvPicPr>
          <p:cNvPr id="13" name="Content Placeholder 12" descr="A diagram of a tree&#10;&#10;AI-generated content may be incorrect.">
            <a:extLst>
              <a:ext uri="{FF2B5EF4-FFF2-40B4-BE49-F238E27FC236}">
                <a16:creationId xmlns:a16="http://schemas.microsoft.com/office/drawing/2014/main" id="{9B80527E-C5A0-34C4-EAA5-EF2B187863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7836" y="371061"/>
            <a:ext cx="7398147" cy="583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282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E0C2D-0F84-085D-E85E-90898CE59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dirty="0"/>
              <a:t>2022/23 Decision Tree</a:t>
            </a:r>
          </a:p>
        </p:txBody>
      </p:sp>
      <p:pic>
        <p:nvPicPr>
          <p:cNvPr id="5" name="Content Placeholder 4" descr="A diagram of a tree&#10;&#10;AI-generated content may be incorrect.">
            <a:extLst>
              <a:ext uri="{FF2B5EF4-FFF2-40B4-BE49-F238E27FC236}">
                <a16:creationId xmlns:a16="http://schemas.microsoft.com/office/drawing/2014/main" id="{357B0C20-9A82-DC1A-A4EE-76EAC9220E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4285" y="1106010"/>
            <a:ext cx="7387714" cy="464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585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0C2FC7-A35F-E1C1-2EBE-30F46D5B3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 fontScale="90000"/>
          </a:bodyPr>
          <a:lstStyle/>
          <a:p>
            <a:r>
              <a:rPr lang="en-US" dirty="0"/>
              <a:t>2023/24 &amp; 2024/25 Decision Tree</a:t>
            </a:r>
          </a:p>
        </p:txBody>
      </p:sp>
      <p:pic>
        <p:nvPicPr>
          <p:cNvPr id="5" name="Content Placeholder 4" descr="A diagram of a tree&#10;&#10;AI-generated content may be incorrect.">
            <a:extLst>
              <a:ext uri="{FF2B5EF4-FFF2-40B4-BE49-F238E27FC236}">
                <a16:creationId xmlns:a16="http://schemas.microsoft.com/office/drawing/2014/main" id="{826B199E-B053-BEA1-6336-BB0F0DAEB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78372" y="662609"/>
            <a:ext cx="7289552" cy="575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859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1B0E1-ED18-B277-24A0-64B6BBBE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049" y="386039"/>
            <a:ext cx="7729728" cy="1188720"/>
          </a:xfrm>
        </p:spPr>
        <p:txBody>
          <a:bodyPr/>
          <a:lstStyle/>
          <a:p>
            <a:r>
              <a:rPr lang="en-US" dirty="0"/>
              <a:t>K-means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CED08-5660-6B54-6732-A85D81717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597" y="2545279"/>
            <a:ext cx="4394951" cy="4133817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Two clear styles emerge</a:t>
            </a:r>
            <a:endParaRPr lang="en-US" dirty="0"/>
          </a:p>
          <a:p>
            <a:r>
              <a:rPr lang="en-US" b="1" dirty="0"/>
              <a:t>Open Game</a:t>
            </a:r>
            <a:r>
              <a:rPr lang="en-US" dirty="0"/>
              <a:t> High xG, few yellows -&gt; proactive, chance-heavy football</a:t>
            </a:r>
          </a:p>
          <a:p>
            <a:r>
              <a:rPr lang="en-US" b="1" dirty="0"/>
              <a:t>Low Block</a:t>
            </a:r>
            <a:r>
              <a:rPr lang="en-US" dirty="0"/>
              <a:t> Low xG, many yellows -&gt; tight, foul-heavy contests</a:t>
            </a:r>
          </a:p>
          <a:p>
            <a:r>
              <a:rPr lang="en-US" b="1" dirty="0"/>
              <a:t>Quick take-away</a:t>
            </a:r>
            <a:endParaRPr lang="en-US" dirty="0"/>
          </a:p>
          <a:p>
            <a:r>
              <a:rPr lang="en-US" dirty="0"/>
              <a:t>When Arsenal create chances </a:t>
            </a:r>
            <a:r>
              <a:rPr lang="en-US" i="1" dirty="0"/>
              <a:t>and</a:t>
            </a:r>
            <a:r>
              <a:rPr lang="en-US" dirty="0"/>
              <a:t> stay disciplined, their matches cluster in the Open Game group, signaling attacking control.</a:t>
            </a:r>
          </a:p>
          <a:p>
            <a:r>
              <a:rPr lang="en-US" dirty="0"/>
              <a:t>When chance creation stalls and fouls rise, matches shift to the Low Block group, showing a more defensive, stop-start pattern.</a:t>
            </a:r>
          </a:p>
          <a:p>
            <a:endParaRPr lang="en-US" dirty="0"/>
          </a:p>
        </p:txBody>
      </p:sp>
      <p:pic>
        <p:nvPicPr>
          <p:cNvPr id="4" name="Content Placeholder 4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E9C3FD46-D8A3-EA81-913F-08DA4A269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658" y="2545279"/>
            <a:ext cx="6100219" cy="3737044"/>
          </a:xfrm>
          <a:prstGeom prst="rect">
            <a:avLst/>
          </a:prstGeom>
        </p:spPr>
      </p:pic>
      <p:pic>
        <p:nvPicPr>
          <p:cNvPr id="7" name="Picture 6" descr="A line graph with text&#10;&#10;AI-generated content may be incorrect.">
            <a:extLst>
              <a:ext uri="{FF2B5EF4-FFF2-40B4-BE49-F238E27FC236}">
                <a16:creationId xmlns:a16="http://schemas.microsoft.com/office/drawing/2014/main" id="{C0D2EA77-5F5E-4C26-47FB-0E69B3182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5680" y="265043"/>
            <a:ext cx="3246962" cy="200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13103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572</TotalTime>
  <Words>813</Words>
  <Application>Microsoft Macintosh PowerPoint</Application>
  <PresentationFormat>Widescreen</PresentationFormat>
  <Paragraphs>69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Gill Sans MT</vt:lpstr>
      <vt:lpstr>Parcel</vt:lpstr>
      <vt:lpstr>Why Arsenal is Always 2nd Place</vt:lpstr>
      <vt:lpstr>Problem and Motivation</vt:lpstr>
      <vt:lpstr>Hypothesis</vt:lpstr>
      <vt:lpstr>DATA</vt:lpstr>
      <vt:lpstr>EDA </vt:lpstr>
      <vt:lpstr>Arsenal 2022-23 has lower possession than 2023-2025 </vt:lpstr>
      <vt:lpstr>Arsenal 2022-23 has higher xG than 2023-2025 </vt:lpstr>
      <vt:lpstr>Arsenal 2022-23 has less cards than 2023-2025 </vt:lpstr>
      <vt:lpstr>Arsenal 2022-23 teams played more attacking against us </vt:lpstr>
      <vt:lpstr>Arsenal 2022-23 conceded and scored more goals </vt:lpstr>
      <vt:lpstr>Finally, Arsenal switch their playstyle after 2022-23 </vt:lpstr>
      <vt:lpstr>Logisitic Regression</vt:lpstr>
      <vt:lpstr>Model 3:</vt:lpstr>
      <vt:lpstr>Regression Trees</vt:lpstr>
      <vt:lpstr>All Seasons Decision Tree</vt:lpstr>
      <vt:lpstr>2022/23 Decision Tree</vt:lpstr>
      <vt:lpstr>2023/24 &amp; 2024/25 Decision Tree</vt:lpstr>
      <vt:lpstr>K-means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Matheus Grover</dc:creator>
  <cp:lastModifiedBy>Matheus Grover</cp:lastModifiedBy>
  <cp:revision>6</cp:revision>
  <dcterms:created xsi:type="dcterms:W3CDTF">2025-07-29T19:13:56Z</dcterms:created>
  <dcterms:modified xsi:type="dcterms:W3CDTF">2025-07-30T04:55:48Z</dcterms:modified>
</cp:coreProperties>
</file>